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DIP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C8FF"/>
                </a:solidFill>
              </a:defRPr>
            </a:pPr>
            <a:r>
              <a:t>Multi-Agent Decision Intelligence Platform</a:t>
            </a:r>
          </a:p>
          <a:p>
            <a:r>
              <a:t>AI-powered structured reasoning for high-stakes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Paridhi Jain</a:t>
            </a:r>
          </a:p>
          <a:p>
            <a:pPr>
              <a:defRPr sz="1600">
                <a:solidFill>
                  <a:srgbClr val="969696"/>
                </a:solidFill>
              </a:defRPr>
            </a:pPr>
            <a:r>
              <a:t>HackArena 2 - Solo Entry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1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High-stakes decisions are often fragmented across teams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Single-model AI responses lack transparency and auditability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No structured disagreement or validation mechanisms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Difficult to track reasoning or audit AI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Critical decisions need structured reasoning, not just generated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1"/>
                </a:solidFill>
              </a:defRPr>
            </a:pPr>
            <a:r>
              <a:t>Solution: What is DIP Arena?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5720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Multi-Agent Decision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Multi-agent AI debate with structured reasoning</a:t>
            </a:r>
          </a:p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Risk-aware recommendations</a:t>
            </a:r>
          </a:p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Validation of claims with evidence scoring</a:t>
            </a:r>
          </a:p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Transparent decision analysis</a:t>
            </a:r>
          </a:p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Comparison between decision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1"/>
                </a:solidFill>
              </a:defRPr>
            </a:pPr>
            <a:r>
              <a:t>Architecture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</a:defRPr>
            </a:pPr>
            <a:r>
              <a:t>User Query</a:t>
            </a:r>
          </a:p>
          <a:p>
            <a:r>
              <a:t>        ↓</a:t>
            </a:r>
          </a:p>
          <a:p>
            <a:r>
              <a:t>Agent Orchestrator</a:t>
            </a:r>
          </a:p>
          <a:p>
            <a:r>
              <a:t>        ↓</a:t>
            </a:r>
          </a:p>
          <a:p>
            <a:r>
              <a:t>Economics  Ethics  Policy</a:t>
            </a:r>
          </a:p>
          <a:p>
            <a:r>
              <a:t>Research  Risk  Strategy</a:t>
            </a:r>
          </a:p>
          <a:p>
            <a:r>
              <a:t>        ↓</a:t>
            </a:r>
          </a:p>
          <a:p>
            <a:r>
              <a:t>Validation Engine</a:t>
            </a:r>
          </a:p>
          <a:p>
            <a:r>
              <a:t>        ↓</a:t>
            </a:r>
          </a:p>
          <a:p>
            <a:r>
              <a:t>Decision Report</a:t>
            </a:r>
          </a:p>
          <a:p>
            <a:r>
              <a:t>        ↓</a:t>
            </a:r>
          </a:p>
          <a:p>
            <a:r>
              <a:t>Comparison +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1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82828"/>
                </a:solidFill>
              </a:defRPr>
            </a:pPr>
            <a:r>
              <a:t>• Multi-agent debate engine</a:t>
            </a:r>
          </a:p>
          <a:p>
            <a:pPr>
              <a:spcBef>
                <a:spcPts val="600"/>
              </a:spcBef>
              <a:defRPr sz="1800">
                <a:solidFill>
                  <a:srgbClr val="282828"/>
                </a:solidFill>
              </a:defRPr>
            </a:pPr>
            <a:r>
              <a:t>• Validation matrix with evidence scoring</a:t>
            </a:r>
          </a:p>
          <a:p>
            <a:pPr>
              <a:spcBef>
                <a:spcPts val="600"/>
              </a:spcBef>
              <a:defRPr sz="1800">
                <a:solidFill>
                  <a:srgbClr val="282828"/>
                </a:solidFill>
              </a:defRPr>
            </a:pPr>
            <a:r>
              <a:t>• Risk and tradeoff analysis</a:t>
            </a:r>
          </a:p>
          <a:p>
            <a:pPr>
              <a:spcBef>
                <a:spcPts val="600"/>
              </a:spcBef>
              <a:defRPr sz="1800">
                <a:solidFill>
                  <a:srgbClr val="282828"/>
                </a:solidFill>
              </a:defRPr>
            </a:pPr>
            <a:r>
              <a:t>• Confidence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82828"/>
                </a:solidFill>
              </a:defRPr>
            </a:pPr>
            <a:r>
              <a:t>• Counterfactual reasoning</a:t>
            </a:r>
          </a:p>
          <a:p>
            <a:pPr>
              <a:spcBef>
                <a:spcPts val="600"/>
              </a:spcBef>
              <a:defRPr sz="1800">
                <a:solidFill>
                  <a:srgbClr val="282828"/>
                </a:solidFill>
              </a:defRPr>
            </a:pPr>
            <a:r>
              <a:t>• Report comparison</a:t>
            </a:r>
          </a:p>
          <a:p>
            <a:pPr>
              <a:spcBef>
                <a:spcPts val="600"/>
              </a:spcBef>
              <a:defRPr sz="1800">
                <a:solidFill>
                  <a:srgbClr val="282828"/>
                </a:solidFill>
              </a:defRPr>
            </a:pPr>
            <a:r>
              <a:t>• Query history tracking</a:t>
            </a:r>
          </a:p>
          <a:p>
            <a:pPr>
              <a:spcBef>
                <a:spcPts val="600"/>
              </a:spcBef>
              <a:defRPr sz="1800">
                <a:solidFill>
                  <a:srgbClr val="282828"/>
                </a:solidFill>
              </a:defRPr>
            </a:pPr>
            <a:r>
              <a:t>• Audit-friendly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1"/>
                </a:solidFill>
              </a:defRPr>
            </a:pPr>
            <a:r>
              <a:t>Why It's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 b="1">
                <a:solidFill>
                  <a:srgbClr val="0066CC"/>
                </a:solidFill>
              </a:defRPr>
            </a:pPr>
            <a:r>
              <a:t>✓ Multi-perspective reasoning (not single-model AI)</a:t>
            </a:r>
          </a:p>
          <a:p>
            <a:pPr>
              <a:spcBef>
                <a:spcPts val="1000"/>
              </a:spcBef>
              <a:defRPr sz="2000" b="1">
                <a:solidFill>
                  <a:srgbClr val="0066CC"/>
                </a:solidFill>
              </a:defRPr>
            </a:pPr>
            <a:r>
              <a:t>✓ Explicit dissent instead of hidden reasoning</a:t>
            </a:r>
          </a:p>
          <a:p>
            <a:pPr>
              <a:spcBef>
                <a:spcPts val="1000"/>
              </a:spcBef>
              <a:defRPr sz="2000" b="1">
                <a:solidFill>
                  <a:srgbClr val="0066CC"/>
                </a:solidFill>
              </a:defRPr>
            </a:pPr>
            <a:r>
              <a:t>✓ Transparent AI governance approach</a:t>
            </a:r>
          </a:p>
          <a:p>
            <a:pPr>
              <a:spcBef>
                <a:spcPts val="1000"/>
              </a:spcBef>
              <a:defRPr sz="2000" b="1">
                <a:solidFill>
                  <a:srgbClr val="0066CC"/>
                </a:solidFill>
              </a:defRPr>
            </a:pPr>
            <a:r>
              <a:t>✓ Structured decision intelligence framework</a:t>
            </a:r>
          </a:p>
          <a:p>
            <a:pPr>
              <a:spcBef>
                <a:spcPts val="1000"/>
              </a:spcBef>
              <a:defRPr sz="2000" b="1">
                <a:solidFill>
                  <a:srgbClr val="0066CC"/>
                </a:solidFill>
              </a:defRPr>
            </a:pPr>
            <a:r>
              <a:t>✓ Counterfactual analysis capabilities</a:t>
            </a:r>
          </a:p>
          <a:p>
            <a:pPr>
              <a:spcBef>
                <a:spcPts val="1000"/>
              </a:spcBef>
              <a:defRPr sz="2000" b="1">
                <a:solidFill>
                  <a:srgbClr val="0066CC"/>
                </a:solidFill>
              </a:defRPr>
            </a:pPr>
            <a:r>
              <a:t>✓ Validation-aware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1"/>
                </a:solidFill>
              </a:defRPr>
            </a:pPr>
            <a:r>
              <a:t>Real-World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Public policy decisions with multi-stakeholder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Healthcare resource allocation and triage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Disaster response and emergency planning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Regulatory governance and 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Enterprise strategic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Risk assessment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1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900">
                <a:solidFill>
                  <a:srgbClr val="282828"/>
                </a:solidFill>
              </a:defRPr>
            </a:pPr>
            <a:r>
              <a:t>⚙ Backend: Python with ThreadPoolExecutor</a:t>
            </a:r>
          </a:p>
          <a:p>
            <a:pPr>
              <a:spcBef>
                <a:spcPts val="1000"/>
              </a:spcBef>
              <a:defRPr sz="1900">
                <a:solidFill>
                  <a:srgbClr val="282828"/>
                </a:solidFill>
              </a:defRPr>
            </a:pPr>
            <a:r>
              <a:t>⚙ Multi-agent orchestration engine</a:t>
            </a:r>
          </a:p>
          <a:p>
            <a:pPr>
              <a:spcBef>
                <a:spcPts val="1000"/>
              </a:spcBef>
              <a:defRPr sz="1900">
                <a:solidFill>
                  <a:srgbClr val="282828"/>
                </a:solidFill>
              </a:defRPr>
            </a:pPr>
            <a:r>
              <a:t>⚙ Structured reasoning framework</a:t>
            </a:r>
          </a:p>
          <a:p>
            <a:pPr>
              <a:spcBef>
                <a:spcPts val="1000"/>
              </a:spcBef>
              <a:defRPr sz="1900">
                <a:solidFill>
                  <a:srgbClr val="282828"/>
                </a:solidFill>
              </a:defRPr>
            </a:pPr>
            <a:r>
              <a:t>⚙ Frontend: HTML5, CSS3, JavaScript</a:t>
            </a:r>
          </a:p>
          <a:p>
            <a:pPr>
              <a:spcBef>
                <a:spcPts val="1000"/>
              </a:spcBef>
              <a:defRPr sz="1900">
                <a:solidFill>
                  <a:srgbClr val="282828"/>
                </a:solidFill>
              </a:defRPr>
            </a:pPr>
            <a:r>
              <a:t>⚙ Local-first architecture (no external API required)</a:t>
            </a:r>
          </a:p>
          <a:p>
            <a:pPr>
              <a:spcBef>
                <a:spcPts val="1000"/>
              </a:spcBef>
              <a:defRPr sz="1900">
                <a:solidFill>
                  <a:srgbClr val="282828"/>
                </a:solidFill>
              </a:defRPr>
            </a:pPr>
            <a:r>
              <a:t>⚙ JSON-based report export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1"/>
                </a:solidFill>
              </a:defRPr>
            </a:pPr>
            <a:r>
              <a:t>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Live LLM integration for dynamic agent responses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Real-time evidence retrieval from knowledge bases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Explainable AI governance layer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Collaborative decision workspace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Enterprise deployment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Automated PDF report export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64C8FF"/>
                </a:solidFill>
              </a:defRPr>
            </a:pPr>
            <a:r>
              <a:t>GitHub: github.com/paridhijain5/dip-arena</a:t>
            </a:r>
          </a:p>
          <a:p>
            <a:pPr algn="ctr">
              <a:defRPr sz="1800">
                <a:solidFill>
                  <a:srgbClr val="64C8FF"/>
                </a:solidFill>
              </a:defRPr>
            </a:pPr>
            <a:r>
              <a:t>Demo: http://127.0.0.1:8000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